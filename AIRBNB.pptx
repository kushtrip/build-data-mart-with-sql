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9" r:id="rId23"/>
    <p:sldId id="280" r:id="rId24"/>
    <p:sldId id="27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>
        <p:scale>
          <a:sx n="92" d="100"/>
          <a:sy n="92" d="100"/>
        </p:scale>
        <p:origin x="51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7/9/2023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7/9/2023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7/9/2023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7/9/2023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B9CF7-521D-B7F2-827D-F03CE950A9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88165" y="1809137"/>
            <a:ext cx="6815669" cy="1515533"/>
          </a:xfrm>
        </p:spPr>
        <p:txBody>
          <a:bodyPr/>
          <a:lstStyle/>
          <a:p>
            <a:r>
              <a:rPr lang="en-US" dirty="0"/>
              <a:t>AIRBNB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E9E32BD-475C-55D9-E5A3-C15755A3CB2A}"/>
              </a:ext>
            </a:extLst>
          </p:cNvPr>
          <p:cNvSpPr txBox="1">
            <a:spLocks/>
          </p:cNvSpPr>
          <p:nvPr/>
        </p:nvSpPr>
        <p:spPr>
          <a:xfrm>
            <a:off x="2730428" y="2961177"/>
            <a:ext cx="6815669" cy="1515533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5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2037840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86553-236D-8BF8-AD3F-B1D8B841D00B}"/>
              </a:ext>
            </a:extLst>
          </p:cNvPr>
          <p:cNvSpPr txBox="1"/>
          <p:nvPr/>
        </p:nvSpPr>
        <p:spPr>
          <a:xfrm>
            <a:off x="643180" y="616058"/>
            <a:ext cx="108798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                                    </a:t>
            </a:r>
            <a:r>
              <a:rPr lang="en-US" sz="3200" b="1" u="sng" dirty="0"/>
              <a:t>Entity one: USER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887A89-67E5-4DA5-7E1C-EA6D1919D167}"/>
              </a:ext>
            </a:extLst>
          </p:cNvPr>
          <p:cNvSpPr txBox="1"/>
          <p:nvPr/>
        </p:nvSpPr>
        <p:spPr>
          <a:xfrm>
            <a:off x="5198388" y="1200833"/>
            <a:ext cx="6218697" cy="5106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INSERT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INTO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User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UserID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Name, Email, Password,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PhoneNumber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VALUES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 (</a:t>
            </a:r>
            <a:r>
              <a:rPr lang="en-US" sz="1400" b="1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'John Doe'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'johndoe@gmail.com'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'password123'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'1234567890'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),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 (</a:t>
            </a:r>
            <a:r>
              <a:rPr lang="en-US" sz="1400" b="1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'Jane Smith'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'janesmith@gmail.com'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'pass123'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'9876543210'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),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 (</a:t>
            </a:r>
            <a:r>
              <a:rPr lang="en-US" sz="1400" b="1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'Michael Johnson'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'michael@hotmail.com'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</a:t>
            </a:r>
            <a:r>
              <a:rPr lang="en-US" sz="140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testpass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'5555555555'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),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 (</a:t>
            </a:r>
            <a:r>
              <a:rPr lang="en-US" sz="1400" b="1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4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'Emily Davis'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'emily@yahoo.com'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'pass456'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'8888888888'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),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 (</a:t>
            </a:r>
            <a:r>
              <a:rPr lang="en-US" sz="1400" b="1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5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'David Wilson'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'david@gmail.com'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'test123'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'1111111111'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),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 (</a:t>
            </a:r>
            <a:r>
              <a:rPr lang="en-US" sz="1400" b="1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6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'Sophia Lee'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'sophia@gmail.com'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'pass789'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'2222222222'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),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 (</a:t>
            </a:r>
            <a:r>
              <a:rPr lang="en-US" sz="1400" b="1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7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'Matthew Thompson'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'matthew@gmail.com'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'password456'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'3333333333'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),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 (</a:t>
            </a:r>
            <a:r>
              <a:rPr lang="en-US" sz="1400" b="1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8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'Olivia Garcia'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'olivia@gmail.com'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'testpass789'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'4444444444'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),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de-DE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 (</a:t>
            </a:r>
            <a:r>
              <a:rPr lang="de-DE" sz="1400" b="1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9</a:t>
            </a:r>
            <a:r>
              <a:rPr lang="de-DE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de-DE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'Daniel Hernandez'</a:t>
            </a:r>
            <a:r>
              <a:rPr lang="de-DE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de-DE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'daniel@gmail.com'</a:t>
            </a:r>
            <a:r>
              <a:rPr lang="de-DE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de-DE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'pass999'</a:t>
            </a:r>
            <a:r>
              <a:rPr lang="de-DE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de-DE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'6666666666'</a:t>
            </a:r>
            <a:r>
              <a:rPr lang="de-DE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),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de-DE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 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(</a:t>
            </a:r>
            <a:r>
              <a:rPr lang="en-US" sz="1400" b="1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10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'Isabella Clark'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'isabella@gmail.com'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'password789'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'7777777777'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),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 (</a:t>
            </a:r>
            <a:r>
              <a:rPr lang="en-US" sz="1400" b="1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11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'Alexander Hall'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'alexander@gmail.com'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'pass123456'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'9999999999'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),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 (</a:t>
            </a:r>
            <a:r>
              <a:rPr lang="en-US" sz="1400" b="1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12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'Ava Young'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'ava@gmail.com'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'testpass123'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'3334445555'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),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 (</a:t>
            </a:r>
            <a:r>
              <a:rPr lang="en-US" sz="1400" b="1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13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'William Turner'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'william@gmail.com'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'pass234'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'1112223333'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),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 (</a:t>
            </a:r>
            <a:r>
              <a:rPr lang="en-US" sz="1400" b="1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14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'Mia Baker'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'mia@gmail.com'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'password987'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'4445556666'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),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 (</a:t>
            </a:r>
            <a:r>
              <a:rPr lang="en-US" sz="1400" b="1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15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'James Walker'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'james@gmail.com'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'pass567'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'7778889999'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),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 (</a:t>
            </a:r>
            <a:r>
              <a:rPr lang="en-US" sz="1400" b="1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16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'Sophia Hill'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'sophia@gmail.com'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'testpass123456'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'2221113333'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),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 (</a:t>
            </a:r>
            <a:r>
              <a:rPr lang="en-US" sz="1400" b="1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17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'Ethan Carter'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'ethan@gmail.com'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'pass7891011'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'5554443333'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),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 (</a:t>
            </a:r>
            <a:r>
              <a:rPr lang="en-US" sz="1400" b="1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18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'Charlotte Mitchell'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'charlotte@gmail.com'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'password456789’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     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'8887776666'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),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 (</a:t>
            </a:r>
            <a:r>
              <a:rPr lang="en-US" sz="1400" b="1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19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'Benjamin Green'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'benjamin@gmail.com'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'testpass234'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'9998887777'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),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 (</a:t>
            </a:r>
            <a:r>
              <a:rPr lang="en-US" sz="1400" b="1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20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'Amelia Adams'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'amelia@gmail.com'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'pass345'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'1110002222'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);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56AC21-CF85-784B-72AE-6DE550759B7D}"/>
              </a:ext>
            </a:extLst>
          </p:cNvPr>
          <p:cNvSpPr txBox="1"/>
          <p:nvPr/>
        </p:nvSpPr>
        <p:spPr>
          <a:xfrm>
            <a:off x="774915" y="1100094"/>
            <a:ext cx="418841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CREATE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TABLE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User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( 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UserID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PRIMARY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Name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VARCHAR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255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 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Email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VARCHAR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255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 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Password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VARCHAR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255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 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PhoneNumber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VARCHAR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));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B64282-219A-69D3-4CF9-8467BC451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990" y="2929031"/>
            <a:ext cx="4121342" cy="321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545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86553-236D-8BF8-AD3F-B1D8B841D00B}"/>
              </a:ext>
            </a:extLst>
          </p:cNvPr>
          <p:cNvSpPr txBox="1"/>
          <p:nvPr/>
        </p:nvSpPr>
        <p:spPr>
          <a:xfrm>
            <a:off x="643180" y="616058"/>
            <a:ext cx="108798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                                </a:t>
            </a:r>
            <a:r>
              <a:rPr lang="en-US" sz="3200" b="1" u="sng" dirty="0"/>
              <a:t>Entity two: GUEST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887A89-67E5-4DA5-7E1C-EA6D1919D167}"/>
              </a:ext>
            </a:extLst>
          </p:cNvPr>
          <p:cNvSpPr txBox="1"/>
          <p:nvPr/>
        </p:nvSpPr>
        <p:spPr>
          <a:xfrm>
            <a:off x="5180308" y="1100094"/>
            <a:ext cx="6218697" cy="5379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INSERT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INTO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Guest (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GuestID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ProfilePicture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SocialNetworkLink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VALUES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'guest1.jpg'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'https://www.facebook.com/johndoe'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'guest2.jpg'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'https://www.instagram.com/janesmith'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3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'guest3.jpg'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'https://twitter.com/</a:t>
            </a:r>
            <a:r>
              <a:rPr lang="en-US" sz="1400" kern="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michael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4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'guest4.jpg'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'https://www.linkedin.com/emily'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'guest5.jpg'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'https://www.facebook.com/davidwilson'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6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'guest6.jpg'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'https://www.instagram.com/sophialee'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7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'guest7.jpg'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'https://twitter.com/</a:t>
            </a:r>
            <a:r>
              <a:rPr lang="en-US" sz="1400" kern="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matthew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'guest8.jpg'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'https://www.linkedin.com/oliviagarcia'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9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'guest9.jpg'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'https://www.facebook.com/danielhernandez'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'guest10.jpg'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'https://www.instagram.com/isabellaclark'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11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'guest11.jpg'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'https://twitter.com/alexander'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12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'guest12.jpg'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'https://www.linkedin.com/avayoung'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13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'guest13.jpg'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'https://www.facebook.com/williamturner'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14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'guest14.jpg'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'https://www.instagram.com/miabaker'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'guest15.jpg'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'https://twitter.com/</a:t>
            </a:r>
            <a:r>
              <a:rPr lang="en-US" sz="1400" kern="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james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16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'guest16.jpg'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'https://www.linkedin.com/sophiahill'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17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'guest17.jpg'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'https://www.facebook.com/ethancarter'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18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'guest18.jpg'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'https://www.instagram.com/charlottemitchell'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19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'guest19.jpg'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'https://twitter.com/</a:t>
            </a:r>
            <a:r>
              <a:rPr lang="en-US" sz="1400" kern="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benjamin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'guest20.jpg'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'https://www.linkedin.com/ameliaadams'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);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56AC21-CF85-784B-72AE-6DE550759B7D}"/>
              </a:ext>
            </a:extLst>
          </p:cNvPr>
          <p:cNvSpPr txBox="1"/>
          <p:nvPr/>
        </p:nvSpPr>
        <p:spPr>
          <a:xfrm>
            <a:off x="669010" y="1100094"/>
            <a:ext cx="1536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148E2A-5375-5220-8AF7-28347C50CEBB}"/>
              </a:ext>
            </a:extLst>
          </p:cNvPr>
          <p:cNvSpPr txBox="1"/>
          <p:nvPr/>
        </p:nvSpPr>
        <p:spPr>
          <a:xfrm>
            <a:off x="856281" y="2890434"/>
            <a:ext cx="4324027" cy="325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30341457-9554-81B9-A279-8A7BB1E4F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671" y="1200833"/>
            <a:ext cx="328564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CREATE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TABLE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Guest (  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GuestID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PRIMARY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ProfilePicture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VARCHAR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255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SocialNetworkLink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VARCHAR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255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UserID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FOREIGN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UserID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REFERENCES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User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UserID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));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34D1CA-E7C4-011E-2B9A-586BAE72B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390" y="2835750"/>
            <a:ext cx="4175807" cy="3309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08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86553-236D-8BF8-AD3F-B1D8B841D00B}"/>
              </a:ext>
            </a:extLst>
          </p:cNvPr>
          <p:cNvSpPr txBox="1"/>
          <p:nvPr/>
        </p:nvSpPr>
        <p:spPr>
          <a:xfrm>
            <a:off x="643180" y="616058"/>
            <a:ext cx="108798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                                 </a:t>
            </a:r>
            <a:r>
              <a:rPr lang="en-US" sz="3200" b="1" u="sng" dirty="0"/>
              <a:t>Entity three: HOST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887A89-67E5-4DA5-7E1C-EA6D1919D167}"/>
              </a:ext>
            </a:extLst>
          </p:cNvPr>
          <p:cNvSpPr txBox="1"/>
          <p:nvPr/>
        </p:nvSpPr>
        <p:spPr>
          <a:xfrm>
            <a:off x="6265190" y="1100094"/>
            <a:ext cx="5133815" cy="5153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INSERT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INTO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Host (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HostID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ProfilePicture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PhoneNumber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VALUES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'host1.jpg'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'1111111111'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'host2.jpg'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'2222222222'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3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'host3.jpg'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'3333333333'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4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'host4.jpg'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'4444444444'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'host5.jpg'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'5555555555'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6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'host6.jpg'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'6666666666'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7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'host7.jpg'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'7777777777'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'host8.jpg'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'8888888888'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9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'host9.jpg'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'9999999999'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'host10.jpg'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'0000000000'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11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'host11.jpg'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'1234567890'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12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'host12.jpg'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'2345678901'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13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'host13.jpg'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'3456789012'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14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'host14.jpg'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'4567890123'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'host15.jpg'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'5678901234'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16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'host16.jpg'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'6789012345'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17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'host17.jpg'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'7890123456'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18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'host18.jpg'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'8901234567'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19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'host19.jpg'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'9012345678'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'host20.jpg'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'0123456789'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);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148E2A-5375-5220-8AF7-28347C50CEBB}"/>
              </a:ext>
            </a:extLst>
          </p:cNvPr>
          <p:cNvSpPr txBox="1"/>
          <p:nvPr/>
        </p:nvSpPr>
        <p:spPr>
          <a:xfrm>
            <a:off x="856281" y="2890434"/>
            <a:ext cx="4324027" cy="325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BF4D0F4-5508-E3E7-2EFF-AF85C771E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995" y="1100094"/>
            <a:ext cx="458233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CREATE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TABLE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Host (  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HostID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PRIMARY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 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ProfilePicture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VARCHAR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255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  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PhoneNumber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VARCHAR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  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UserID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 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FOREIGN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UserID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REFERENCES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User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UserID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));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4A6518-1804-84AC-D538-AF3ADAF33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725" y="2722390"/>
            <a:ext cx="4689282" cy="3461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271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86553-236D-8BF8-AD3F-B1D8B841D00B}"/>
              </a:ext>
            </a:extLst>
          </p:cNvPr>
          <p:cNvSpPr txBox="1"/>
          <p:nvPr/>
        </p:nvSpPr>
        <p:spPr>
          <a:xfrm>
            <a:off x="643180" y="616058"/>
            <a:ext cx="108798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                            </a:t>
            </a:r>
            <a:r>
              <a:rPr lang="en-US" sz="3200" b="1" u="sng" dirty="0"/>
              <a:t>Entity five: HOTELROOM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887A89-67E5-4DA5-7E1C-EA6D1919D167}"/>
              </a:ext>
            </a:extLst>
          </p:cNvPr>
          <p:cNvSpPr txBox="1"/>
          <p:nvPr/>
        </p:nvSpPr>
        <p:spPr>
          <a:xfrm>
            <a:off x="5939725" y="1100094"/>
            <a:ext cx="5459280" cy="5153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INSERT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INTO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HotelRoom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(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RoomID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Description, Amenities, Price)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VALUES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'Cozy Studio Apartment'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'Wi-Fi, TV, Kitchenette'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100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'Luxury Beachfront Villa'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'Private Pool, Ocean View'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500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3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'Modern City Center Loft'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'Gym, Parking'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150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4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'Charming Countryside Cottage'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'Fireplace, Garden'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'Spacious Family House'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'Backyard, BBQ Grill'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300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6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'Sleek Urban Penthouse'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'City View, Rooftop Terrace'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400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7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'Rustic Mountain Cabin'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'Hot Tub, Hiking Trails'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250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'Seaside Bungalow'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'Beach Access, Patio'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180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9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'Elegant Historic Mansion'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'Grand Ballroom, Garden'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1000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'Quaint Lakeside Chalet'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'Canoe Rental, Fishing'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220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11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'Contemporary Loft Apartment'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'City View, Gym'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160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12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</a:t>
            </a:r>
            <a:r>
              <a:rPr lang="en-US" sz="1400" kern="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Cosy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Log Cabin'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'Fireplace, Forest View'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190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13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'Sunny Beach House'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'Ocean View, BBQ Grill'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280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14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'Traditional 2BHK apartment'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'Garden, Farm Animals'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240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'Urban Chic apartment'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'Central Location, Free Parking'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120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16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'Himalayan Retreat'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'Hot Tub, Scenic Views'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350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17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'Beachfront Condo'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'Swimming Pool, Balcony'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320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18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'Historic clubhouse'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'Antique Furnishings, Courtyard'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180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19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'Cottage by the sea'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'Riverside Deck, Canoe Rental'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'Stylish Boutique lounge'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'Restaurant, Spa'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400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);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148E2A-5375-5220-8AF7-28347C50CEBB}"/>
              </a:ext>
            </a:extLst>
          </p:cNvPr>
          <p:cNvSpPr txBox="1"/>
          <p:nvPr/>
        </p:nvSpPr>
        <p:spPr>
          <a:xfrm>
            <a:off x="856281" y="2890434"/>
            <a:ext cx="4324027" cy="325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3BB22D-FA8E-757E-81EA-0F30A4E0399F}"/>
              </a:ext>
            </a:extLst>
          </p:cNvPr>
          <p:cNvSpPr txBox="1"/>
          <p:nvPr/>
        </p:nvSpPr>
        <p:spPr>
          <a:xfrm>
            <a:off x="906651" y="1200833"/>
            <a:ext cx="3417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7C5A26-8BD5-9C01-EEB8-37FAF9241223}"/>
              </a:ext>
            </a:extLst>
          </p:cNvPr>
          <p:cNvSpPr txBox="1"/>
          <p:nvPr/>
        </p:nvSpPr>
        <p:spPr>
          <a:xfrm>
            <a:off x="669010" y="1200833"/>
            <a:ext cx="4460929" cy="2188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CREATE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TABLE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HotelRoom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(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6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RoomID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PRIMARY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Description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VARCHAR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lang="en-US" sz="16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255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Amenities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VARCHAR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lang="en-US" sz="16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255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Price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DECIMAL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lang="en-US" sz="16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10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6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6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LocationID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FOREIGN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(</a:t>
            </a:r>
            <a:r>
              <a:rPr lang="en-US" sz="16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LocationID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REFERENCES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Location(</a:t>
            </a:r>
            <a:r>
              <a:rPr lang="en-US" sz="16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LocationID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));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607262-C43C-2236-500E-3D2063D8E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067" y="3389189"/>
            <a:ext cx="4772817" cy="2755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077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86553-236D-8BF8-AD3F-B1D8B841D00B}"/>
              </a:ext>
            </a:extLst>
          </p:cNvPr>
          <p:cNvSpPr txBox="1"/>
          <p:nvPr/>
        </p:nvSpPr>
        <p:spPr>
          <a:xfrm>
            <a:off x="643180" y="616058"/>
            <a:ext cx="108798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                              </a:t>
            </a:r>
            <a:r>
              <a:rPr lang="en-US" sz="3200" b="1" u="sng" dirty="0"/>
              <a:t>Entity four: LOCATION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887A89-67E5-4DA5-7E1C-EA6D1919D167}"/>
              </a:ext>
            </a:extLst>
          </p:cNvPr>
          <p:cNvSpPr txBox="1"/>
          <p:nvPr/>
        </p:nvSpPr>
        <p:spPr>
          <a:xfrm>
            <a:off x="6318532" y="1100094"/>
            <a:ext cx="5080473" cy="5386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INSERT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INTO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Location (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LocationID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City, Country)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VALUES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'New York'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'United States'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'Paris'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'France'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3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'London'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'United Kingdom'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4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'Tokyo'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'Japan'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'Rome'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'Italy'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6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'Sydney'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'Australia'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7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'Cape Town'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'South Africa'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'Rio de Janeiro'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'Brazil'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9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'Barcelona'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'Spain'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'Dubai'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'United Arab Emirates'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11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'Berlin'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'Germany'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12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'Amsterdam'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'Netherlands'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13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'Bangkok'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'Thailand'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14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'Toronto'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'Canada'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'Mumbai'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'India'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16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'Hawaii'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'United States'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17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'Kathmandu'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'Nepal'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18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'Pokhara'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'Nepal'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19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'Ottawa'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'Canada'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'wellington'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</a:t>
            </a:r>
            <a:r>
              <a:rPr lang="en-US" sz="1400" kern="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Austrailia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);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148E2A-5375-5220-8AF7-28347C50CEBB}"/>
              </a:ext>
            </a:extLst>
          </p:cNvPr>
          <p:cNvSpPr txBox="1"/>
          <p:nvPr/>
        </p:nvSpPr>
        <p:spPr>
          <a:xfrm>
            <a:off x="856281" y="2890434"/>
            <a:ext cx="4324027" cy="325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D61F357-A47D-252E-076B-E1F613E78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116" y="1216903"/>
            <a:ext cx="4746356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CREATE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TABLE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Location (  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LocationID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PRIMARY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 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City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VARCHAR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100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  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Country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VARCHAR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100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));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8D4687-BAED-4075-F9AF-747964DC0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121" y="2779532"/>
            <a:ext cx="5349313" cy="3226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677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86553-236D-8BF8-AD3F-B1D8B841D00B}"/>
              </a:ext>
            </a:extLst>
          </p:cNvPr>
          <p:cNvSpPr txBox="1"/>
          <p:nvPr/>
        </p:nvSpPr>
        <p:spPr>
          <a:xfrm>
            <a:off x="643180" y="616058"/>
            <a:ext cx="108798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                            </a:t>
            </a:r>
            <a:r>
              <a:rPr lang="en-US" sz="3200" b="1" u="sng" dirty="0"/>
              <a:t>Entity six: CREDITCARD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887A89-67E5-4DA5-7E1C-EA6D1919D167}"/>
              </a:ext>
            </a:extLst>
          </p:cNvPr>
          <p:cNvSpPr txBox="1"/>
          <p:nvPr/>
        </p:nvSpPr>
        <p:spPr>
          <a:xfrm>
            <a:off x="6331057" y="1100094"/>
            <a:ext cx="5067947" cy="5153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INSERT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INTO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CreditCard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(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CardID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CardNumber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ExpiryDate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CVV)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VALUES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'1234567812345678'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'2025-06-01'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'123'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'2345678923456789'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'2024-09-01'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'234'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3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'3456789034567890'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'2023-12-01'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'345'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4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'4567890145678901'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'2025-03-01'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'456'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'5678901256789012'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'2024-06-01'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'567'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6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'6789012367890123'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'2023-09-01'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'678'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7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'7890123478901234'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'2025-12-01'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'789'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'8901234589012345'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'2024-03-01'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'890'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9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'9012345690123456'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'2023-06-01'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'901'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'0123456701234567'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'2025-09-01'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'012'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11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'1234567812345678'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'2024-12-01'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'123'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12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'2345678923456789'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'2023-03-01'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'234'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13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'3456789034567890'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'2025-06-01'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'345'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14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'4567890145678901'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'2024-09-01'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'456'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'5678901256789012'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'2023-12-01'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'567'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16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'6789012367890123'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'2025-03-01'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'678'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17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'7890123478901234'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'2024-06-01'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'789'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18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'8901234589012345'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'2023-09-01'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'890'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19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'9012345690123456'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'2025-12-01'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'901'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'0123456701234567'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'2024-03-01'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'012'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);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8937EA-B64F-5751-5B84-8B1540C6C727}"/>
              </a:ext>
            </a:extLst>
          </p:cNvPr>
          <p:cNvSpPr txBox="1"/>
          <p:nvPr/>
        </p:nvSpPr>
        <p:spPr>
          <a:xfrm>
            <a:off x="792995" y="1055099"/>
            <a:ext cx="2537847" cy="1661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CREATE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TABLE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CreditCard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(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6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CardID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PRIMARY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6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CardNumber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VARCHAR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lang="en-US" sz="16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16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6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ExpiryDate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DATE,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CVV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VARCHAR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lang="en-US" sz="16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3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));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C5112A-ACFD-FD3E-D43D-28D0D5A69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927" y="2716516"/>
            <a:ext cx="4889561" cy="3525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510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86553-236D-8BF8-AD3F-B1D8B841D00B}"/>
              </a:ext>
            </a:extLst>
          </p:cNvPr>
          <p:cNvSpPr txBox="1"/>
          <p:nvPr/>
        </p:nvSpPr>
        <p:spPr>
          <a:xfrm>
            <a:off x="643180" y="616058"/>
            <a:ext cx="108798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                             </a:t>
            </a:r>
            <a:r>
              <a:rPr lang="en-US" sz="3200" b="1" u="sng" dirty="0"/>
              <a:t>Entity seven: BOOKING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887A89-67E5-4DA5-7E1C-EA6D1919D167}"/>
              </a:ext>
            </a:extLst>
          </p:cNvPr>
          <p:cNvSpPr txBox="1"/>
          <p:nvPr/>
        </p:nvSpPr>
        <p:spPr>
          <a:xfrm>
            <a:off x="5970722" y="1100094"/>
            <a:ext cx="5428283" cy="5386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INSERT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INTO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Booking (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BookingID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CheckinDate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CheckoutDate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Amount, 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PaymentStatus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VALUES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'2023-07-15'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'2023-07-20'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500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'Paid'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'2023-08-05'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'2023-08-10'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700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'Paid'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3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'2023-09-01'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'2023-09-05'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300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'Paid'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4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'2023-10-10'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'2023-10-15'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900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'Paid'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'2023-11-20'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'2023-11-25'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600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'Paid'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6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'2023-12-03'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'2023-12-08'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400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'Paid'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7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'2023-07-25'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'2023-07-30'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750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'Paid'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'2023-08-15'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'2023-08-20'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350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'Paid'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9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'2023-09-10'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'2023-09-15'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550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'Paid'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'2023-10-20'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'2023-10-25'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800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'Paid'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11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'2023-11-30'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'2023-12-05'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500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'Paid'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12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'2023-12-20'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'2023-12-25'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650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'Paid'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13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'2023-07-10'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'2023-07-15'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400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'Paid'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14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'2023-08-01'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'2023-08-06'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600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'Paid'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'2023-09-05'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'2023-09-10'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350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'Paid'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16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'2023-10-15'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'2023-10-20'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750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'Paid'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17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'2023-11-25'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'2023-11-30'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550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'Paid'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18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'2023-12-10'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'2023-12-15'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450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'Paid'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19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'2023-07-20'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'2023-07-25'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650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'Paid'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'2023-08-10'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'2023-08-15'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500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'Paid'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);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148E2A-5375-5220-8AF7-28347C50CEBB}"/>
              </a:ext>
            </a:extLst>
          </p:cNvPr>
          <p:cNvSpPr txBox="1"/>
          <p:nvPr/>
        </p:nvSpPr>
        <p:spPr>
          <a:xfrm>
            <a:off x="856281" y="2890434"/>
            <a:ext cx="4324027" cy="325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1BEE92-2127-E42B-9B84-01448F09F529}"/>
              </a:ext>
            </a:extLst>
          </p:cNvPr>
          <p:cNvSpPr txBox="1"/>
          <p:nvPr/>
        </p:nvSpPr>
        <p:spPr>
          <a:xfrm>
            <a:off x="614766" y="1100094"/>
            <a:ext cx="6114080" cy="2455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CREATE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2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TABLE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Booking (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2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BookingID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2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2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PRIMARY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2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2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CheckInDate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DATE,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2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CheckOutDate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DATE,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Amount </a:t>
            </a:r>
            <a:r>
              <a:rPr lang="en-US" sz="12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DECIMAL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lang="en-US" sz="12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10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2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2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PaymentStatus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2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VARCHAR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lang="en-US" sz="12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2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GuestID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2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HostID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2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RoomID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2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2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CardID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2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2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FOREIGN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2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(</a:t>
            </a:r>
            <a:r>
              <a:rPr lang="en-US" sz="12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GuestID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 </a:t>
            </a:r>
            <a:r>
              <a:rPr lang="en-US" sz="12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REFERENCES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Guest(</a:t>
            </a:r>
            <a:r>
              <a:rPr lang="en-US" sz="12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GuestID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2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FOREIGN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2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(</a:t>
            </a:r>
            <a:r>
              <a:rPr lang="en-US" sz="12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HostID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 </a:t>
            </a:r>
            <a:r>
              <a:rPr lang="en-US" sz="12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REFERENCES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Host(</a:t>
            </a:r>
            <a:r>
              <a:rPr lang="en-US" sz="12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HostID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2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FOREIGN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2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(</a:t>
            </a:r>
            <a:r>
              <a:rPr lang="en-US" sz="12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RoomID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 </a:t>
            </a:r>
            <a:r>
              <a:rPr lang="en-US" sz="12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REFERENCES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2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HotelRoom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lang="en-US" sz="12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RoomID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2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FOREIGN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2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(</a:t>
            </a:r>
            <a:r>
              <a:rPr lang="en-US" sz="12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CardID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 </a:t>
            </a:r>
            <a:r>
              <a:rPr lang="en-US" sz="12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REFERENCES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2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CreditCard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lang="en-US" sz="12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CardID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);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DE2920-ED7F-FB41-9981-4B1C8C6BB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967" y="3389542"/>
            <a:ext cx="4919769" cy="270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68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86553-236D-8BF8-AD3F-B1D8B841D00B}"/>
              </a:ext>
            </a:extLst>
          </p:cNvPr>
          <p:cNvSpPr txBox="1"/>
          <p:nvPr/>
        </p:nvSpPr>
        <p:spPr>
          <a:xfrm>
            <a:off x="643180" y="616058"/>
            <a:ext cx="108798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                                 </a:t>
            </a:r>
            <a:r>
              <a:rPr lang="en-US" sz="3200" b="1" u="sng" dirty="0"/>
              <a:t>Entity eight: REVIEW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887A89-67E5-4DA5-7E1C-EA6D1919D167}"/>
              </a:ext>
            </a:extLst>
          </p:cNvPr>
          <p:cNvSpPr txBox="1"/>
          <p:nvPr/>
        </p:nvSpPr>
        <p:spPr>
          <a:xfrm>
            <a:off x="5470901" y="1200833"/>
            <a:ext cx="6218697" cy="5078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5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15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INSERT</a:t>
            </a:r>
            <a:r>
              <a:rPr lang="en-US" sz="115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15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INTO</a:t>
            </a:r>
            <a:r>
              <a:rPr lang="en-US" sz="115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Review (</a:t>
            </a:r>
            <a:r>
              <a:rPr lang="en-US" sz="115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ReviewID</a:t>
            </a:r>
            <a:r>
              <a:rPr lang="en-US" sz="115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Review)</a:t>
            </a:r>
            <a:endParaRPr lang="en-US" sz="115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5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VALUES</a:t>
            </a:r>
            <a:endParaRPr lang="en-US" sz="115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(1, 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"Excellent lodging! The room was tidy and cozy. "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(2, 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"Absolutely enjoyed our stay! Both the host and the venue were excellent."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(3, 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"Typical experience. The space might have been more tidy."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(4, 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"I would highly suggest this location. Excellent amenities and lovely views."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(5, 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"I had a great experience at this hotel. The staff was welcoming and accommodating."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(6, 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"Unsatisfactory stay. It wasn't the advertised room."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(7, 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"Excellent service! The host went above and beyond to ensure that we had a good time."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(8, 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"Fair price given the quality. The space was large and well-kept"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(9, 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"Could not have asked for a more positive experience. Every detail was excellent!"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(10, 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"An adequate but unremarkable place to stay."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(11, 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"We had a good time. The location and room were both </a:t>
            </a:r>
            <a:r>
              <a:rPr kumimoji="0" lang="en-US" altLang="en-US" sz="1150" b="0" i="0" u="none" strike="noStrike" cap="none" normalizeH="0" baseline="0" dirty="0" err="1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handy.made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 me feel at ease."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(12, 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"Outstanding </a:t>
            </a:r>
            <a:r>
              <a:rPr kumimoji="0" lang="en-US" altLang="en-US" sz="1150" b="0" i="0" u="none" strike="noStrike" cap="none" normalizeH="0" baseline="0" dirty="0" err="1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accomodation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! Would undoubtedly return to this hotel."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(13, 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"Mixed emotions regarding this location. While some parts were excellent, others lacked."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(14, 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"Overall, a pleasant visit. The host was cordial, and the view from the room was lovely."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(15, 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"One of the nicest stays I have ever had. The service was excellent, and the room was stunning."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(16, 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"Not advisable. The amenities were poor, and the room was </a:t>
            </a:r>
            <a:r>
              <a:rPr kumimoji="0" lang="en-US" altLang="en-US" sz="1150" b="0" i="0" u="none" strike="noStrike" cap="none" normalizeH="0" baseline="0" dirty="0" err="1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filthy.Excellent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 value for the money."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(17, 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"Our expectations were exceeded by the </a:t>
            </a:r>
            <a:r>
              <a:rPr kumimoji="0" lang="en-US" altLang="en-US" sz="1150" b="0" i="0" u="none" strike="noStrike" cap="none" normalizeH="0" baseline="0" dirty="0" err="1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room.Absolutely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 great! "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(18, 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"Everything we required was provided for at the </a:t>
            </a:r>
            <a:r>
              <a:rPr kumimoji="0" lang="en-US" altLang="en-US" sz="1150" b="0" i="0" u="none" strike="noStrike" cap="none" normalizeH="0" baseline="0" dirty="0" err="1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hotel.Mixed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 experience. "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(19, 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"While some elements were positive, others needed </a:t>
            </a:r>
            <a:r>
              <a:rPr kumimoji="0" lang="en-US" altLang="en-US" sz="1150" b="0" i="0" u="none" strike="noStrike" cap="none" normalizeH="0" baseline="0" dirty="0" err="1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work.Lovely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 hotel with helpful personnel,"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(20, 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" we thoroughly enjoyed our stay."</a:t>
            </a:r>
            <a:r>
              <a:rPr kumimoji="0" lang="en-US" altLang="en-US" sz="11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endParaRPr kumimoji="0" lang="en-US" altLang="en-US" sz="11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5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endParaRPr lang="en-US" sz="11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148E2A-5375-5220-8AF7-28347C50CEBB}"/>
              </a:ext>
            </a:extLst>
          </p:cNvPr>
          <p:cNvSpPr txBox="1"/>
          <p:nvPr/>
        </p:nvSpPr>
        <p:spPr>
          <a:xfrm>
            <a:off x="751668" y="1108129"/>
            <a:ext cx="4324027" cy="1926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CREATE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TABLE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Review (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ReviewID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PRIMARY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Review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VARCHAR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500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GuestID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RoomID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FOREIGN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(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GuestID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REFERENCES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Guest(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GuestID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b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FOREIGN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(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RoomID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REFERENCES</a:t>
            </a:r>
            <a:endParaRPr lang="en-US" sz="1400" kern="0" dirty="0">
              <a:solidFill>
                <a:srgbClr val="0000FF"/>
              </a:solidFill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HotelRoom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RoomID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));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EFFF438-A2FE-C377-78AC-4F9C4DC4E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980" y="3034362"/>
            <a:ext cx="4686921" cy="313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024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86553-236D-8BF8-AD3F-B1D8B841D00B}"/>
              </a:ext>
            </a:extLst>
          </p:cNvPr>
          <p:cNvSpPr txBox="1"/>
          <p:nvPr/>
        </p:nvSpPr>
        <p:spPr>
          <a:xfrm>
            <a:off x="643180" y="616058"/>
            <a:ext cx="108798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                         </a:t>
            </a:r>
            <a:r>
              <a:rPr lang="en-US" sz="3200" b="1" u="sng" dirty="0"/>
              <a:t>Entity nine: SOCIALNETWORK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887A89-67E5-4DA5-7E1C-EA6D1919D167}"/>
              </a:ext>
            </a:extLst>
          </p:cNvPr>
          <p:cNvSpPr txBox="1"/>
          <p:nvPr/>
        </p:nvSpPr>
        <p:spPr>
          <a:xfrm>
            <a:off x="6133455" y="1142715"/>
            <a:ext cx="5097150" cy="5155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INSERT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INTO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SocialNetwork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(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NetworkID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NetworkName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VALUES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'Facebook'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'Instagram'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3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'Twitter'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4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'LinkedIn'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'Facebook'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6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'Instagram'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7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'Twitter'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</a:t>
            </a:r>
            <a:r>
              <a:rPr lang="en-US" sz="1400" kern="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Linkedin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9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'Facebook'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'Instagram'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11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'Twitter'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12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</a:t>
            </a:r>
            <a:r>
              <a:rPr lang="en-US" sz="1400" kern="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Linkedin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13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'Facebook'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14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'Instagram'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'Twitter'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16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</a:t>
            </a:r>
            <a:r>
              <a:rPr lang="en-US" sz="1400" kern="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Linkedin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17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'Facebook'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18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'Instagram'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19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'Twitter'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</a:t>
            </a:r>
            <a:r>
              <a:rPr lang="en-US" sz="1400" kern="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Linkedin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);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148E2A-5375-5220-8AF7-28347C50CEBB}"/>
              </a:ext>
            </a:extLst>
          </p:cNvPr>
          <p:cNvSpPr txBox="1"/>
          <p:nvPr/>
        </p:nvSpPr>
        <p:spPr>
          <a:xfrm>
            <a:off x="732296" y="1200833"/>
            <a:ext cx="4324027" cy="10041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CREATE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TABLE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SocialNetwork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(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NetworkID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AUTO_INCREMENT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PRIMARY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NetworkName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VARCHAR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255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);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A7DA9E-2C82-D6D1-8761-DC40DF011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151" y="2205018"/>
            <a:ext cx="3678605" cy="3967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719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86553-236D-8BF8-AD3F-B1D8B841D00B}"/>
              </a:ext>
            </a:extLst>
          </p:cNvPr>
          <p:cNvSpPr txBox="1"/>
          <p:nvPr/>
        </p:nvSpPr>
        <p:spPr>
          <a:xfrm>
            <a:off x="643180" y="616058"/>
            <a:ext cx="108798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                         </a:t>
            </a:r>
            <a:r>
              <a:rPr lang="en-US" sz="3200" b="1" u="sng" dirty="0"/>
              <a:t>Entity ten: COMMUNICATION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887A89-67E5-4DA5-7E1C-EA6D1919D167}"/>
              </a:ext>
            </a:extLst>
          </p:cNvPr>
          <p:cNvSpPr txBox="1"/>
          <p:nvPr/>
        </p:nvSpPr>
        <p:spPr>
          <a:xfrm>
            <a:off x="6048214" y="1100094"/>
            <a:ext cx="5350791" cy="5153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INSERT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INTO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Communication (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CommunicationID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Method)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VALUES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'Phone Call'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'Email'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3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'SMS'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4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'WhatsApp'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'Video Call'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6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'In-person Meeting'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7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'SMS'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'Messenger'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9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'Fax'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'Postal Mail'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11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'Voice Message'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12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'Messenger'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13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'Conference Call'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14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'Voice over IP'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'Vi'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16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'Phone call'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17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</a:t>
            </a:r>
            <a:r>
              <a:rPr lang="en-US" sz="1400" kern="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Whatsapp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18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'Email'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19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'Phone call'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'SMS'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);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B8828D-93CE-3603-E297-19F6A066CCDC}"/>
              </a:ext>
            </a:extLst>
          </p:cNvPr>
          <p:cNvSpPr txBox="1"/>
          <p:nvPr/>
        </p:nvSpPr>
        <p:spPr>
          <a:xfrm>
            <a:off x="545516" y="1200833"/>
            <a:ext cx="4634792" cy="1465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CREATE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TABLE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Communication (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CommunicationID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AUTO_INCREMENT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PRIMARY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Method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VARCHAR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255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BookingID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FOREIGN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(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BookingID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REFERENCES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Booking(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BookingID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);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733820-36E3-CA15-72AD-FD8A70562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995" y="2612437"/>
            <a:ext cx="4980124" cy="3562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015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86553-236D-8BF8-AD3F-B1D8B841D00B}"/>
              </a:ext>
            </a:extLst>
          </p:cNvPr>
          <p:cNvSpPr txBox="1"/>
          <p:nvPr/>
        </p:nvSpPr>
        <p:spPr>
          <a:xfrm>
            <a:off x="643180" y="616058"/>
            <a:ext cx="108798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                             </a:t>
            </a:r>
            <a:r>
              <a:rPr lang="en-US" sz="3200" b="1" u="sng" dirty="0"/>
              <a:t>Entity eleven: CALCULATION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887A89-67E5-4DA5-7E1C-EA6D1919D167}"/>
              </a:ext>
            </a:extLst>
          </p:cNvPr>
          <p:cNvSpPr txBox="1"/>
          <p:nvPr/>
        </p:nvSpPr>
        <p:spPr>
          <a:xfrm>
            <a:off x="6349782" y="1100094"/>
            <a:ext cx="5049223" cy="5153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INSERT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INTO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Calculation (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CalculationID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ExpectedIncome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VALUES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2500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1500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3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800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4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1200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900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6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1100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7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1300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700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9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1000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1400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11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750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12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950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13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1050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14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1600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850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16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1250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17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1800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18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600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19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950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1350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);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148E2A-5375-5220-8AF7-28347C50CEBB}"/>
              </a:ext>
            </a:extLst>
          </p:cNvPr>
          <p:cNvSpPr txBox="1"/>
          <p:nvPr/>
        </p:nvSpPr>
        <p:spPr>
          <a:xfrm>
            <a:off x="732296" y="1100094"/>
            <a:ext cx="4324027" cy="1661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CREATE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TABLE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Calculation (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6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CalculationID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PRIMARY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6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ExpectedIncome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DECIMAL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lang="en-US" sz="16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10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6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6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HostID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FOREIGN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(</a:t>
            </a:r>
            <a:r>
              <a:rPr lang="en-US" sz="16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HostID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REFERENCES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Host(</a:t>
            </a:r>
            <a:r>
              <a:rPr lang="en-US" sz="16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HostID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);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A2F030-F2B3-0DF1-92E8-2552A07AE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45" y="2811355"/>
            <a:ext cx="4428586" cy="333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187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86553-236D-8BF8-AD3F-B1D8B841D00B}"/>
              </a:ext>
            </a:extLst>
          </p:cNvPr>
          <p:cNvSpPr txBox="1"/>
          <p:nvPr/>
        </p:nvSpPr>
        <p:spPr>
          <a:xfrm>
            <a:off x="643180" y="616058"/>
            <a:ext cx="108798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                         </a:t>
            </a:r>
            <a:r>
              <a:rPr lang="en-US" sz="3200" b="1" u="sng" dirty="0"/>
              <a:t>Entity twelve: AVAILABILITY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887A89-67E5-4DA5-7E1C-EA6D1919D167}"/>
              </a:ext>
            </a:extLst>
          </p:cNvPr>
          <p:cNvSpPr txBox="1"/>
          <p:nvPr/>
        </p:nvSpPr>
        <p:spPr>
          <a:xfrm>
            <a:off x="6514609" y="1100094"/>
            <a:ext cx="4884396" cy="5153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INSERT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INTO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Availability (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AvailabilityID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StartDate, 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EndDate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VALUES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'2023-07-01'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'2023-07-14'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'2023-08-01'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'2023-08-14'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3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'2023-09-01'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'2023-09-14'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4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'2023-10-01'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'2023-10-14'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'2023-11-01'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'2023-11-14'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6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'2023-12-01'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'2023-12-14'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7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'2023-07-15'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'2023-07-28'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'2023-08-15'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'2023-08-28'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9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'2023-09-15'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'2023-09-28'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'2023-10-15'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'2023-10-28'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11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'2023-11-15'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'2023-11-28'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12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'2023-12-15'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'2023-12-28'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13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'2023-07-29'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'2023-08-11'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14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'2023-08-29'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'2023-09-11'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'2023-09-29'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'2023-10-11'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16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'2023-10-29'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'2023-11-11'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17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'2023-11-29'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'2023-12-11'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18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'2023-12-29'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'2024-01-11'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19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'2023-07-12'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'2023-07-25'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'2023-08-12'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'2023-08-25'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);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B87C7E-EFF7-E7AD-C85A-D7096CF30853}"/>
              </a:ext>
            </a:extLst>
          </p:cNvPr>
          <p:cNvSpPr txBox="1"/>
          <p:nvPr/>
        </p:nvSpPr>
        <p:spPr>
          <a:xfrm>
            <a:off x="643180" y="1100094"/>
            <a:ext cx="5265549" cy="1661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CREATE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TABLE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Availability (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6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AvailabilityID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PRIMARY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StartDate DATE,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6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EndDate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DATE,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6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RoomID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FOREIGN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(</a:t>
            </a:r>
            <a:r>
              <a:rPr lang="en-US" sz="16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RoomID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REFERENCES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HotelRoom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lang="en-US" sz="16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RoomID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));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07CB79-3F07-2A3E-7991-E6CF2512F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995" y="2761512"/>
            <a:ext cx="5303005" cy="339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12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86553-236D-8BF8-AD3F-B1D8B841D00B}"/>
              </a:ext>
            </a:extLst>
          </p:cNvPr>
          <p:cNvSpPr txBox="1"/>
          <p:nvPr/>
        </p:nvSpPr>
        <p:spPr>
          <a:xfrm>
            <a:off x="643180" y="616058"/>
            <a:ext cx="108798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                         </a:t>
            </a:r>
            <a:r>
              <a:rPr lang="en-US" sz="3200" b="1" u="sng" dirty="0"/>
              <a:t>Entity thirteen: PHOTOGRAPH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887A89-67E5-4DA5-7E1C-EA6D1919D167}"/>
              </a:ext>
            </a:extLst>
          </p:cNvPr>
          <p:cNvSpPr txBox="1"/>
          <p:nvPr/>
        </p:nvSpPr>
        <p:spPr>
          <a:xfrm>
            <a:off x="5949487" y="1100094"/>
            <a:ext cx="5449518" cy="5155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INSERT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INTO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Photograph (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PhotographID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Image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VALUES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'https://hoteladmire.com/image1.jpg'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'https://Hotelmoon.com/image2.jpg'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3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'https://Sunnylodge.com/image3.jpg'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4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'https://Hotelfunland.com/image4.jpg'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'https://example.com/image5.jpg'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6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'https://example.com/image6.jpg'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7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'https://example.com/image7.jpg'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'https://example.com/image8.jpg'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9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'https://example.com/image9.jpg'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'https://example.com/image10.jpg'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11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'https://example.com/image11.jpg'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12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'https://example.com/image12.jpg'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13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'https://example.com/image13.jpg'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14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'https://example.com/image14.jpg'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'https://example.com/image15.jpg'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16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'https://example.com/image16.jpg'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17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'https://example.com/image17.jpg'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18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'https://example.com/image18.jpg'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19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'https://example.com/image19.jpg'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'https://example.com/image20.jpg'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);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063FD7-2405-38AC-57F5-9CD07721BC7A}"/>
              </a:ext>
            </a:extLst>
          </p:cNvPr>
          <p:cNvSpPr txBox="1"/>
          <p:nvPr/>
        </p:nvSpPr>
        <p:spPr>
          <a:xfrm>
            <a:off x="569047" y="1100094"/>
            <a:ext cx="5113576" cy="1661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CREATE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TABLE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Photograph (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6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PhotographID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PRIMARY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Image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BLOB,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6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RoomID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FOREIGN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(</a:t>
            </a:r>
            <a:r>
              <a:rPr lang="en-US" sz="16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RoomID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REFERENCES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HotelRoom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lang="en-US" sz="16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RoomID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);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411C7A-360A-74CD-7680-949E5A318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007" y="2812328"/>
            <a:ext cx="4389918" cy="3367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71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86553-236D-8BF8-AD3F-B1D8B841D00B}"/>
              </a:ext>
            </a:extLst>
          </p:cNvPr>
          <p:cNvSpPr txBox="1"/>
          <p:nvPr/>
        </p:nvSpPr>
        <p:spPr>
          <a:xfrm>
            <a:off x="643180" y="616058"/>
            <a:ext cx="108798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                            </a:t>
            </a:r>
            <a:r>
              <a:rPr lang="en-US" sz="3200" b="1" u="sng" dirty="0"/>
              <a:t>Entity fourteen: PROFILE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887A89-67E5-4DA5-7E1C-EA6D1919D167}"/>
              </a:ext>
            </a:extLst>
          </p:cNvPr>
          <p:cNvSpPr txBox="1"/>
          <p:nvPr/>
        </p:nvSpPr>
        <p:spPr>
          <a:xfrm>
            <a:off x="5937713" y="1100094"/>
            <a:ext cx="5461292" cy="5155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INSERT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INTO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Profile (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ProfileID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UserID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VALUES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3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3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4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4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6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6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7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7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9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9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11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11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12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12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13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13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14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14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16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16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17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17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18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18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19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19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);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148E2A-5375-5220-8AF7-28347C50CEBB}"/>
              </a:ext>
            </a:extLst>
          </p:cNvPr>
          <p:cNvSpPr txBox="1"/>
          <p:nvPr/>
        </p:nvSpPr>
        <p:spPr>
          <a:xfrm>
            <a:off x="669010" y="1200833"/>
            <a:ext cx="4324027" cy="1857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CREATE</a:t>
            </a:r>
            <a:r>
              <a:rPr lang="en-US" sz="1800" kern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800" kern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TABLE</a:t>
            </a:r>
            <a:r>
              <a:rPr lang="en-US" sz="1800" kern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Profile (</a:t>
            </a:r>
            <a:endParaRPr lang="en-US" sz="18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ProfileID </a:t>
            </a:r>
            <a:r>
              <a:rPr lang="en-US" sz="1800" kern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</a:t>
            </a:r>
            <a:r>
              <a:rPr lang="en-US" sz="1800" kern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800" kern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PRIMARY</a:t>
            </a:r>
            <a:r>
              <a:rPr lang="en-US" sz="1800" kern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800" kern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</a:t>
            </a:r>
            <a:r>
              <a:rPr lang="en-US" sz="1800" kern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</a:t>
            </a:r>
            <a:endParaRPr lang="en-US" sz="18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UserID </a:t>
            </a:r>
            <a:r>
              <a:rPr lang="en-US" sz="1800" kern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</a:t>
            </a:r>
            <a:r>
              <a:rPr lang="en-US" sz="1800" kern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</a:t>
            </a:r>
            <a:endParaRPr lang="en-US" sz="18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800" kern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FOREIGN</a:t>
            </a:r>
            <a:r>
              <a:rPr lang="en-US" sz="1800" kern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800" kern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</a:t>
            </a:r>
            <a:r>
              <a:rPr lang="en-US" sz="1800" kern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(UserID) </a:t>
            </a:r>
            <a:r>
              <a:rPr lang="en-US" sz="1800" kern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REFERENCES</a:t>
            </a:r>
            <a:r>
              <a:rPr lang="en-US" sz="1800" kern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800" kern="0">
                <a:solidFill>
                  <a:srgbClr val="FF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User</a:t>
            </a:r>
            <a:r>
              <a:rPr lang="en-US" sz="1800" kern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(UserID)</a:t>
            </a:r>
            <a:endParaRPr lang="en-US" sz="18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);</a:t>
            </a:r>
            <a:endParaRPr lang="en-US" sz="18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B1356C-4FD3-0F41-2AE6-004A5CFBD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017" y="3047738"/>
            <a:ext cx="3817091" cy="3054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5468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86553-236D-8BF8-AD3F-B1D8B841D00B}"/>
              </a:ext>
            </a:extLst>
          </p:cNvPr>
          <p:cNvSpPr txBox="1"/>
          <p:nvPr/>
        </p:nvSpPr>
        <p:spPr>
          <a:xfrm>
            <a:off x="580222" y="609381"/>
            <a:ext cx="108798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                                 </a:t>
            </a:r>
            <a:r>
              <a:rPr lang="en-US" sz="3200" b="1" u="sng" dirty="0"/>
              <a:t>Entity fifteen: RATING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887A89-67E5-4DA5-7E1C-EA6D1919D167}"/>
              </a:ext>
            </a:extLst>
          </p:cNvPr>
          <p:cNvSpPr txBox="1"/>
          <p:nvPr/>
        </p:nvSpPr>
        <p:spPr>
          <a:xfrm>
            <a:off x="6575155" y="1100094"/>
            <a:ext cx="4823849" cy="5148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INSERT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INTO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Rating (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RatingID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Value)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VALUES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4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3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3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4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4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6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7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4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9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3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11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4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12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13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3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14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4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16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17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4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18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19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3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20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4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);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148E2A-5375-5220-8AF7-28347C50CEBB}"/>
              </a:ext>
            </a:extLst>
          </p:cNvPr>
          <p:cNvSpPr txBox="1"/>
          <p:nvPr/>
        </p:nvSpPr>
        <p:spPr>
          <a:xfrm>
            <a:off x="669009" y="1100094"/>
            <a:ext cx="5845118" cy="1561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CREATE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8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TABLE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Rating (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8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RatingID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8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8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PRIMARY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8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Value </a:t>
            </a:r>
            <a:r>
              <a:rPr lang="en-US" sz="18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8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GuestID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8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8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FOREIGN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8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(</a:t>
            </a:r>
            <a:r>
              <a:rPr lang="en-US" sz="18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GuestID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 </a:t>
            </a:r>
            <a:r>
              <a:rPr lang="en-US" sz="18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REFERENCES</a:t>
            </a:r>
            <a:r>
              <a:rPr lang="en-US" kern="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Guest(</a:t>
            </a:r>
            <a:r>
              <a:rPr lang="en-US" sz="18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GuestID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));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12458F-C478-BE7A-AC78-1AE82194C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19" y="2661099"/>
            <a:ext cx="4657652" cy="353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6582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86553-236D-8BF8-AD3F-B1D8B841D00B}"/>
              </a:ext>
            </a:extLst>
          </p:cNvPr>
          <p:cNvSpPr txBox="1"/>
          <p:nvPr/>
        </p:nvSpPr>
        <p:spPr>
          <a:xfrm>
            <a:off x="643180" y="616058"/>
            <a:ext cx="108798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                           </a:t>
            </a:r>
            <a:r>
              <a:rPr lang="en-US" sz="3200" b="1" u="sng" dirty="0"/>
              <a:t>Entity sixteen: FEEDBACK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887A89-67E5-4DA5-7E1C-EA6D1919D167}"/>
              </a:ext>
            </a:extLst>
          </p:cNvPr>
          <p:cNvSpPr txBox="1"/>
          <p:nvPr/>
        </p:nvSpPr>
        <p:spPr>
          <a:xfrm>
            <a:off x="5427373" y="1284760"/>
            <a:ext cx="6095617" cy="4826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INSERT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2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INTO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Feedback (</a:t>
            </a:r>
            <a:r>
              <a:rPr lang="en-US" sz="12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FeedbackID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Content)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VALUES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2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2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'Great experience overall. The hotel staff was Caring and the room was clean.'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2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2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'Highly recommended. The service was good and the location was convenient.'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2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3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2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'Average stay. The room was okay, but nothing special.'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2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4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2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'Brilliant! Everything about this hotel exceeded my expectations.'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2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5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2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'Not satisfied with the stay. The room was small and the amenities were lacking.'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2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6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2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'Disappointing experience. The hotel did not meet my expectations.'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2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7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2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'Excellent stay. The room was spacious and comfortable.'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2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2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'Good value for money. The hotel provided all the necessary amenities.'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2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9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2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'Could be better. The service was average and the room cleanliness could be improved.'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2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10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2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'Wonderful stay. The hotel had a great ambiance and the staff was helpful.'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2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11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2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'No complaints. The hotel provided a pleasant and comfortable stay.'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2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12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2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'Exceptional service. The staff went above and beyond to ensure a great experience.'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2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13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2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'Mixed feelings about this hotel. Some aspects were great, while others were lacking.'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2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14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2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'Pleasant stay overall. The hotel had a nice ambiance and the staff was friendly.'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2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15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2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'One of the best hotels I''</a:t>
            </a:r>
            <a:r>
              <a:rPr lang="en-US" sz="1200" kern="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ve</a:t>
            </a:r>
            <a:r>
              <a:rPr lang="en-US" sz="12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stayed in. The room was luxurious and the service was top-notch.'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2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16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2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'Not recommended. The hotel was not up to par with its advertised amenities.'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2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17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2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'Great value for money. The hotel exceeded our expectations.'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2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18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2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'Absolutely fantastic! The hotel had everything we needed and more.'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2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19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2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'Mixed experience. Some aspects were good, but others could be improved.'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2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2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'Lovely hotel with a friendly staff. Enjoyed our stay immensely.'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);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E2B192-0C56-B20C-DF2C-A43773444500}"/>
              </a:ext>
            </a:extLst>
          </p:cNvPr>
          <p:cNvSpPr txBox="1"/>
          <p:nvPr/>
        </p:nvSpPr>
        <p:spPr>
          <a:xfrm>
            <a:off x="669010" y="1284760"/>
            <a:ext cx="4662263" cy="1661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CREATE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TABLE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Feedback (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6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FeedbackID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PRIMARY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Content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TEXT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6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GuestID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FOREIGN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(</a:t>
            </a:r>
            <a:r>
              <a:rPr lang="en-US" sz="16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GuestID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REFERENCES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Guest(</a:t>
            </a:r>
            <a:r>
              <a:rPr lang="en-US" sz="16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GuestID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);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659A2F-FF0C-B2A2-6FC3-A46E8A4C5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708" y="2946177"/>
            <a:ext cx="4426967" cy="320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2166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86553-236D-8BF8-AD3F-B1D8B841D00B}"/>
              </a:ext>
            </a:extLst>
          </p:cNvPr>
          <p:cNvSpPr txBox="1"/>
          <p:nvPr/>
        </p:nvSpPr>
        <p:spPr>
          <a:xfrm>
            <a:off x="643180" y="616058"/>
            <a:ext cx="108798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                     </a:t>
            </a:r>
            <a:r>
              <a:rPr lang="en-US" sz="3200" b="1" u="sng" dirty="0"/>
              <a:t>Entity seventeen: CONFIRMATION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887A89-67E5-4DA5-7E1C-EA6D1919D167}"/>
              </a:ext>
            </a:extLst>
          </p:cNvPr>
          <p:cNvSpPr txBox="1"/>
          <p:nvPr/>
        </p:nvSpPr>
        <p:spPr>
          <a:xfrm>
            <a:off x="6191573" y="1100094"/>
            <a:ext cx="5207432" cy="5153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INSERT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INTO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Confirmation (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ConfirmationID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Status)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VALUES</a:t>
            </a:r>
            <a:b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'Pending'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  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'Confirmed'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  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3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'confirmed'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  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4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'pending'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 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'Confirmed'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6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'Confirmed'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7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'Confirmed'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'Pending'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9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'Confirmed'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'Confirmed'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11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'Pending'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12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'Confirmed'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13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'Confirmed'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14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'Confirmed'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'Confirmed'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16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'Pending'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17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'Confirmed'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18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'Confirmed'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19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'Confirmed'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'Confirmed'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);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148E2A-5375-5220-8AF7-28347C50CEBB}"/>
              </a:ext>
            </a:extLst>
          </p:cNvPr>
          <p:cNvSpPr txBox="1"/>
          <p:nvPr/>
        </p:nvSpPr>
        <p:spPr>
          <a:xfrm>
            <a:off x="792995" y="1100094"/>
            <a:ext cx="4324027" cy="1857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CREATE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8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TABLE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Confirmation (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8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ConfirmationID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8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8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PRIMARY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8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status </a:t>
            </a:r>
            <a:r>
              <a:rPr lang="en-US" sz="18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VARCHAR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lang="en-US" sz="18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8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BookingID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8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8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FOREIGN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8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(</a:t>
            </a:r>
            <a:r>
              <a:rPr lang="en-US" sz="18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BookingID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 </a:t>
            </a:r>
            <a:r>
              <a:rPr lang="en-US" sz="18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REFERENCES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Booking(</a:t>
            </a:r>
            <a:r>
              <a:rPr lang="en-US" sz="18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BookingID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);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E8D0CD-B349-DCC4-318A-F480BCC73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679" y="2915863"/>
            <a:ext cx="3827561" cy="332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5502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86553-236D-8BF8-AD3F-B1D8B841D00B}"/>
              </a:ext>
            </a:extLst>
          </p:cNvPr>
          <p:cNvSpPr txBox="1"/>
          <p:nvPr/>
        </p:nvSpPr>
        <p:spPr>
          <a:xfrm>
            <a:off x="643180" y="616058"/>
            <a:ext cx="108798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                             </a:t>
            </a:r>
            <a:r>
              <a:rPr lang="en-US" sz="3200" b="1" u="sng" dirty="0"/>
              <a:t>Entity eighteen: INQUIRY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887A89-67E5-4DA5-7E1C-EA6D1919D167}"/>
              </a:ext>
            </a:extLst>
          </p:cNvPr>
          <p:cNvSpPr txBox="1"/>
          <p:nvPr/>
        </p:nvSpPr>
        <p:spPr>
          <a:xfrm>
            <a:off x="5180308" y="1100094"/>
            <a:ext cx="6218697" cy="5383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INSERT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INTO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Inquiry (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InquiryID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Content)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VALUES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'What are the nearby attractions to the hotel?'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6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'Do you provide airport shuttle services?'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7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'Are pets allowed in the hotel?'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'Can I request an early check-in?'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9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'Are there any restaurants within walking distance?'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'Is there a gym or fitness center available?'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11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'Can I make changes to my booking?'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12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'Is there a cancellation policy?'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13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'Are there any special discounts for group bookings?'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14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'Can I request a late check-out?'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'Is parking available at the hotel?'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16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'Do you provide room service?'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17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'Are there any additional fees or taxes?'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18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'What is the Wi-Fi policy of the hotel?'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19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'Is there a swimming pool on-site?'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'Do you have a concierge service?'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21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'Are there any nearby shopping centers?'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22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'Can I book multiple rooms under one reservation?'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23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'Is breakfast included in the room rate?'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24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'What are the check-in and check-out times?'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);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148E2A-5375-5220-8AF7-28347C50CEBB}"/>
              </a:ext>
            </a:extLst>
          </p:cNvPr>
          <p:cNvSpPr txBox="1"/>
          <p:nvPr/>
        </p:nvSpPr>
        <p:spPr>
          <a:xfrm>
            <a:off x="732296" y="1100094"/>
            <a:ext cx="4324027" cy="1857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CREATE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8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TABLE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Inquiry (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8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InquiryID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8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8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PRIMARY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8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Content </a:t>
            </a:r>
            <a:r>
              <a:rPr lang="en-US" sz="18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TEXT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8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BookingID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8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8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FOREIGN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8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(</a:t>
            </a:r>
            <a:r>
              <a:rPr lang="en-US" sz="18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BookingID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 </a:t>
            </a:r>
            <a:r>
              <a:rPr lang="en-US" sz="18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REFERENCES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Booking(</a:t>
            </a:r>
            <a:r>
              <a:rPr lang="en-US" sz="18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BookingID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));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F7752A-4DA8-3CE9-1B57-F289FC6B2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684" y="2957462"/>
            <a:ext cx="4067529" cy="328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8664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86553-236D-8BF8-AD3F-B1D8B841D00B}"/>
              </a:ext>
            </a:extLst>
          </p:cNvPr>
          <p:cNvSpPr txBox="1"/>
          <p:nvPr/>
        </p:nvSpPr>
        <p:spPr>
          <a:xfrm>
            <a:off x="643180" y="616058"/>
            <a:ext cx="108798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                            </a:t>
            </a:r>
            <a:r>
              <a:rPr lang="en-US" sz="3200" b="1" u="sng" dirty="0"/>
              <a:t>Entity nineteen: PAYMENT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887A89-67E5-4DA5-7E1C-EA6D1919D167}"/>
              </a:ext>
            </a:extLst>
          </p:cNvPr>
          <p:cNvSpPr txBox="1"/>
          <p:nvPr/>
        </p:nvSpPr>
        <p:spPr>
          <a:xfrm>
            <a:off x="6096000" y="1100094"/>
            <a:ext cx="5303005" cy="5153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INSERT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INTO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Payment (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PaymentID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Date, Amount)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VALUES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'2023-07-25'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180.50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6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'2023-08-10'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220.00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7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'2023-09-20'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140.75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'2023-10-05'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200.25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9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'2023-11-15'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160.50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'2023-12-01'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180.00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11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'2024-01-10'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120.75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12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'2024-02-05'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190.25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13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'2024-03-15'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150.50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14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'2024-04-01'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210.00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'2024-05-10'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130.75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16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'2024-06-05'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180.25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17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'2024-07-15'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170.50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18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'2024-08-01'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240.00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19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'2024-09-10'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160.75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'2024-10-20'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220.25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21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'2024-11-25'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190.50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22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'2024-12-10'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200.00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23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'2025-01-20'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150.75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24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kern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'2025-02-05'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230.25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);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148E2A-5375-5220-8AF7-28347C50CEBB}"/>
              </a:ext>
            </a:extLst>
          </p:cNvPr>
          <p:cNvSpPr txBox="1"/>
          <p:nvPr/>
        </p:nvSpPr>
        <p:spPr>
          <a:xfrm>
            <a:off x="856281" y="1200833"/>
            <a:ext cx="4324027" cy="1924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CREATE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TABLE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Payment (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6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PaymentID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PRIMARY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Date </a:t>
            </a:r>
            <a:r>
              <a:rPr lang="en-US" sz="16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DATE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Amount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DECIMAL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lang="en-US" sz="16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10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6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6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BookingID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FOREIGN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(</a:t>
            </a:r>
            <a:r>
              <a:rPr lang="en-US" sz="16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BookingID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 </a:t>
            </a:r>
            <a:r>
              <a:rPr lang="en-US" sz="16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REFERENCES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Booking(</a:t>
            </a:r>
            <a:r>
              <a:rPr lang="en-US" sz="16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BookingID</a:t>
            </a:r>
            <a:r>
              <a:rPr lang="en-US" sz="16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));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BD8E6D-D592-4862-A983-AE8DDCC2C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008" y="3125719"/>
            <a:ext cx="3543128" cy="308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015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86553-236D-8BF8-AD3F-B1D8B841D00B}"/>
              </a:ext>
            </a:extLst>
          </p:cNvPr>
          <p:cNvSpPr txBox="1"/>
          <p:nvPr/>
        </p:nvSpPr>
        <p:spPr>
          <a:xfrm>
            <a:off x="643180" y="616058"/>
            <a:ext cx="108798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                               </a:t>
            </a:r>
            <a:r>
              <a:rPr lang="en-US" sz="3200" b="1" u="sng" dirty="0"/>
              <a:t>Entity twenty: INCOME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887A89-67E5-4DA5-7E1C-EA6D1919D167}"/>
              </a:ext>
            </a:extLst>
          </p:cNvPr>
          <p:cNvSpPr txBox="1"/>
          <p:nvPr/>
        </p:nvSpPr>
        <p:spPr>
          <a:xfrm>
            <a:off x="5851375" y="1100094"/>
            <a:ext cx="5547630" cy="5153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INSERT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INTO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Income (</a:t>
            </a:r>
            <a:r>
              <a:rPr lang="en-US" sz="14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IncomeID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Amount)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VALUES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600.00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800.50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3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1000.25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4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700.75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550.00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6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750.50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7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950.25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650.75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9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500.00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700.50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11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900.25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12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600.75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13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650.00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14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850.50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1050.25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16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750.75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17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600.00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18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800.50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19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1000.25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(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700.75</a:t>
            </a:r>
            <a:r>
              <a:rPr lang="en-US" sz="14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);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148E2A-5375-5220-8AF7-28347C50CEBB}"/>
              </a:ext>
            </a:extLst>
          </p:cNvPr>
          <p:cNvSpPr txBox="1"/>
          <p:nvPr/>
        </p:nvSpPr>
        <p:spPr>
          <a:xfrm>
            <a:off x="796870" y="1103969"/>
            <a:ext cx="4324027" cy="1857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CREATE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8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TABLE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Income (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8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IncomeID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8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8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PRIMARY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8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Amount </a:t>
            </a:r>
            <a:r>
              <a:rPr lang="en-US" sz="18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DECIMAL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lang="en-US" sz="18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10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800" b="1" kern="0" dirty="0">
                <a:solidFill>
                  <a:srgbClr val="8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8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HostID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8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en-US" sz="18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FOREIGN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8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(</a:t>
            </a:r>
            <a:r>
              <a:rPr lang="en-US" sz="18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HostID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 </a:t>
            </a:r>
            <a:r>
              <a:rPr lang="en-US" sz="1800" kern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REFERENCES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Host(</a:t>
            </a:r>
            <a:r>
              <a:rPr lang="en-US" sz="1800" kern="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HostID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);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37270C-4AF1-3C19-D8E1-A2F59C1DC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379" y="2914654"/>
            <a:ext cx="3750491" cy="3327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0380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86553-236D-8BF8-AD3F-B1D8B841D00B}"/>
              </a:ext>
            </a:extLst>
          </p:cNvPr>
          <p:cNvSpPr txBox="1"/>
          <p:nvPr/>
        </p:nvSpPr>
        <p:spPr>
          <a:xfrm>
            <a:off x="643180" y="616058"/>
            <a:ext cx="108798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                               </a:t>
            </a:r>
            <a:r>
              <a:rPr lang="en-US" sz="3200" b="1" u="sng" dirty="0"/>
              <a:t>Query using multiple join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148E2A-5375-5220-8AF7-28347C50CEBB}"/>
              </a:ext>
            </a:extLst>
          </p:cNvPr>
          <p:cNvSpPr txBox="1"/>
          <p:nvPr/>
        </p:nvSpPr>
        <p:spPr>
          <a:xfrm>
            <a:off x="1005437" y="1678815"/>
            <a:ext cx="10181126" cy="304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</a:rPr>
              <a:t>USE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airbnb_booking_system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 </a:t>
            </a:r>
          </a:p>
          <a:p>
            <a:pPr algn="ctr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</a:rPr>
              <a:t>SELECT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Booking.BookingID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Host.HostID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Host.</a:t>
            </a:r>
          </a:p>
          <a:p>
            <a:pPr algn="ctr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ProfilePicture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</a:rPr>
              <a:t>AS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HostProfilePicture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Host.PhoneNumber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</a:rPr>
              <a:t>AS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HostPhoneNumber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HotelRoom.RoomID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</a:t>
            </a:r>
          </a:p>
          <a:p>
            <a:pPr algn="ctr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HotelRoom.Description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</a:rPr>
              <a:t>AS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RoomDescription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HotelRoom.Amenities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</a:rPr>
              <a:t>AS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RoomAmenities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Payment.PaymentID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Payment.Date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Payment.Amount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</a:rPr>
              <a:t>AS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PaymentAmount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Guest.GuestID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</a:t>
            </a:r>
          </a:p>
          <a:p>
            <a:pPr algn="ctr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Guest.ProfilePicture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</a:rPr>
              <a:t>AS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GuestProfilePicture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Guest.SocialNetworkLink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</a:rPr>
              <a:t>AS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GuestSocialNetworkLink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algn="ctr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</a:rPr>
              <a:t>FROM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Booking </a:t>
            </a:r>
          </a:p>
          <a:p>
            <a:pPr algn="ctr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Arial Unicode MS"/>
              </a:rPr>
              <a:t>JOIN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Host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</a:rPr>
              <a:t>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Booking.HostID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Arial Unicode MS"/>
              </a:rPr>
              <a:t>=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Host.HostID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</a:p>
          <a:p>
            <a:pPr algn="ctr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Arial Unicode MS"/>
              </a:rPr>
              <a:t>JOIN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HotelRoom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</a:rPr>
              <a:t>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Booking.RoomID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Arial Unicode MS"/>
              </a:rPr>
              <a:t>=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HotelRoom.RoomID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</a:p>
          <a:p>
            <a:pPr algn="ctr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Arial Unicode MS"/>
              </a:rPr>
              <a:t>JOIN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Payment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</a:rPr>
              <a:t>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Booking.BookingID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Arial Unicode MS"/>
              </a:rPr>
              <a:t>=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Payment.PaymentID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</a:p>
          <a:p>
            <a:pPr algn="ctr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Arial Unicode MS"/>
              </a:rPr>
              <a:t>JOIN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Guest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</a:rPr>
              <a:t>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Booking.GuestID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Arial Unicode MS"/>
              </a:rPr>
              <a:t>=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Guest.GuestID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 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1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0555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86553-236D-8BF8-AD3F-B1D8B841D00B}"/>
              </a:ext>
            </a:extLst>
          </p:cNvPr>
          <p:cNvSpPr txBox="1"/>
          <p:nvPr/>
        </p:nvSpPr>
        <p:spPr>
          <a:xfrm>
            <a:off x="643180" y="616058"/>
            <a:ext cx="108798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                               </a:t>
            </a:r>
            <a:r>
              <a:rPr lang="en-US" sz="3200" b="1" u="sng" dirty="0"/>
              <a:t>Query using multiple join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1ECD35-49A7-FE52-AC21-8E1EA8255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903" y="1589809"/>
            <a:ext cx="8588087" cy="28381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DCEA272-C7ED-4F87-88F6-06D8DDE33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332" y="1544440"/>
            <a:ext cx="4733059" cy="288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8924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AC3DE-3D3D-A6AF-3615-4315C9E687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7200" dirty="0"/>
              <a:t>THANK YOU!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AF6FA3-3E0E-1147-9DF7-2A5AB00EFC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9600" dirty="0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6031327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967</TotalTime>
  <Words>5372</Words>
  <Application>Microsoft Office PowerPoint</Application>
  <PresentationFormat>Widescreen</PresentationFormat>
  <Paragraphs>576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Arial Unicode MS</vt:lpstr>
      <vt:lpstr>Calibri</vt:lpstr>
      <vt:lpstr>Garamond</vt:lpstr>
      <vt:lpstr>Times New Roman</vt:lpstr>
      <vt:lpstr>Organic</vt:lpstr>
      <vt:lpstr>AIRBNB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AIRBNB</dc:title>
  <dc:creator>Kush Trip</dc:creator>
  <cp:lastModifiedBy>Kush Trip</cp:lastModifiedBy>
  <cp:revision>5</cp:revision>
  <dcterms:created xsi:type="dcterms:W3CDTF">2023-06-17T08:47:28Z</dcterms:created>
  <dcterms:modified xsi:type="dcterms:W3CDTF">2023-07-09T11:28:08Z</dcterms:modified>
</cp:coreProperties>
</file>